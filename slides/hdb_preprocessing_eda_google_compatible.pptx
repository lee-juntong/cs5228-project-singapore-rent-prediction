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336c3344dc445b" /><Relationship Type="http://schemas.openxmlformats.org/officeDocument/2006/relationships/extended-properties" Target="/docProps/app.xml" Id="R2eb46feca7e840c8" /><Relationship Type="http://schemas.openxmlformats.org/officeDocument/2006/relationships/officeDocument" Target="/ppt/presentation.xml" Id="R916d6bbfbffd41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36a0005fa1484e"/>
  </p:sldMasterIdLst>
  <p:notesMasterIdLst>
    <p:notesMasterId xmlns:r="http://schemas.openxmlformats.org/officeDocument/2006/relationships" r:id="R93e4dca7a26c470a"/>
  </p:notesMasterIdLst>
  <p:sldIdLst>
    <p:sldId xmlns:r="http://schemas.openxmlformats.org/officeDocument/2006/relationships" id="256" r:id="R02ea74c43a99486d"/>
    <p:sldId xmlns:r="http://schemas.openxmlformats.org/officeDocument/2006/relationships" id="257" r:id="Rf9af32fb41a7420a"/>
    <p:sldId xmlns:r="http://schemas.openxmlformats.org/officeDocument/2006/relationships" id="258" r:id="R465970aea8c14543"/>
    <p:sldId xmlns:r="http://schemas.openxmlformats.org/officeDocument/2006/relationships" id="259" r:id="Rd5b928d1bec341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d2d6682a2e427e" /><Relationship Type="http://schemas.openxmlformats.org/officeDocument/2006/relationships/slideMaster" Target="/ppt/slideMasters/slideMaster1.xml" Id="R8e36a0005fa1484e" /><Relationship Type="http://schemas.openxmlformats.org/officeDocument/2006/relationships/notesMaster" Target="/ppt/notesMasters/notesMaster1.xml" Id="R93e4dca7a26c470a" /><Relationship Type="http://schemas.openxmlformats.org/officeDocument/2006/relationships/presProps" Target="/ppt/presProps.xml" Id="Rab4e575df33b4351" /><Relationship Type="http://schemas.openxmlformats.org/officeDocument/2006/relationships/tableStyles" Target="/ppt/tableStyles.xml" Id="R758dd7fd9d894845" /><Relationship Type="http://schemas.openxmlformats.org/officeDocument/2006/relationships/slide" Target="/ppt/slides/slide1.xml" Id="R02ea74c43a99486d" /><Relationship Type="http://schemas.openxmlformats.org/officeDocument/2006/relationships/slide" Target="/ppt/slides/slide2.xml" Id="Rf9af32fb41a7420a" /><Relationship Type="http://schemas.openxmlformats.org/officeDocument/2006/relationships/slide" Target="/ppt/slides/slide3.xml" Id="R465970aea8c14543" /><Relationship Type="http://schemas.openxmlformats.org/officeDocument/2006/relationships/slide" Target="/ppt/slides/slide4.xml" Id="Rd5b928d1bec341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ac3c3de4b043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b5b5e2991845fc" /><Relationship Type="http://schemas.openxmlformats.org/officeDocument/2006/relationships/notesMaster" Target="/ppt/notesMasters/notesMaster1.xml" Id="R5527d009cfa94a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10a105c44e47ad" /><Relationship Type="http://schemas.openxmlformats.org/officeDocument/2006/relationships/notesMaster" Target="/ppt/notesMasters/notesMaster1.xml" Id="R9c117bbd54e843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dfa8f6bdfb4ee7" /><Relationship Type="http://schemas.openxmlformats.org/officeDocument/2006/relationships/notesMaster" Target="/ppt/notesMasters/notesMaster1.xml" Id="R198de9dab62f4b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eb0794195f4fb7" /><Relationship Type="http://schemas.openxmlformats.org/officeDocument/2006/relationships/notesMaster" Target="/ppt/notesMasters/notesMaster1.xml" Id="R230b839615e84f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995b27003b41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b9842979743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3a209157941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afee4d41b48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f61cbcd2c4e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e1d89ef01e4a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EF97C0-2851-4590-AD62-1260AAFCF7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F79A72-BA21-4384-8566-89376CAE50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EC09FAB-0567-44D6-B971-083F4EB041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23E761-0700-466A-83F8-39C116FC81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B57453-A784-4312-BE72-A1431767BE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0069CF-1EDE-4EE5-961E-97946E049A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428615-5350-42F0-82A1-303C521A25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BC3AA3-7545-494E-8864-4745B80916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F31A68-A766-4B89-B0A3-F8C65931FB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57AA53-4B35-4EAF-9AC4-30E8B7DD96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9680ea3b9f472d" /><Relationship Type="http://schemas.openxmlformats.org/officeDocument/2006/relationships/slideLayout" Target="/ppt/slideLayouts/slideLayout1.xml" Id="Ra4f2cc5378d64065" /><Relationship Type="http://schemas.openxmlformats.org/officeDocument/2006/relationships/slideLayout" Target="/ppt/slideLayouts/slideLayout2.xml" Id="Re0db0e3f41af4b19" /><Relationship Type="http://schemas.openxmlformats.org/officeDocument/2006/relationships/slideLayout" Target="/ppt/slideLayouts/slideLayout3.xml" Id="Rf35cc5488f864787" /><Relationship Type="http://schemas.openxmlformats.org/officeDocument/2006/relationships/slideLayout" Target="/ppt/slideLayouts/slideLayout4.xml" Id="R7dd618e04d9c4711" /><Relationship Type="http://schemas.openxmlformats.org/officeDocument/2006/relationships/slideLayout" Target="/ppt/slideLayouts/slideLayout5.xml" Id="R8486d05b4f994558" /><Relationship Type="http://schemas.openxmlformats.org/officeDocument/2006/relationships/slideLayout" Target="/ppt/slideLayouts/slideLayout6.xml" Id="R2f4de10d7d6540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f2cc5378d64065"/>
    <p:sldLayoutId xmlns:r="http://schemas.openxmlformats.org/officeDocument/2006/relationships" id="2147483650" r:id="Re0db0e3f41af4b19"/>
    <p:sldLayoutId xmlns:r="http://schemas.openxmlformats.org/officeDocument/2006/relationships" id="2147483651" r:id="Rf35cc5488f864787"/>
    <p:sldLayoutId xmlns:r="http://schemas.openxmlformats.org/officeDocument/2006/relationships" id="2147483652" r:id="R7dd618e04d9c4711"/>
    <p:sldLayoutId xmlns:r="http://schemas.openxmlformats.org/officeDocument/2006/relationships" id="2147483653" r:id="R8486d05b4f994558"/>
    <p:sldLayoutId xmlns:r="http://schemas.openxmlformats.org/officeDocument/2006/relationships" id="2147483654" r:id="R2f4de10d7d6540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fb72374cc4a33" /><Relationship Type="http://schemas.openxmlformats.org/officeDocument/2006/relationships/notesSlide" Target="/ppt/notesSlides/notesSlide1.xml" Id="R20400f5650744d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b396231b274ca0" /><Relationship Type="http://schemas.openxmlformats.org/officeDocument/2006/relationships/notesSlide" Target="/ppt/notesSlides/notesSlide2.xml" Id="Rae7a8dbc86534e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1da9248f794ff1" /><Relationship Type="http://schemas.openxmlformats.org/officeDocument/2006/relationships/notesSlide" Target="/ppt/notesSlides/notesSlide3.xml" Id="R64775159ef6f47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4db0654b804a02" /><Relationship Type="http://schemas.openxmlformats.org/officeDocument/2006/relationships/notesSlide" Target="/ppt/notesSlides/notesSlide4.xml" Id="R52002532e71b4d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9D9D8-B3C1-4BA1-A8CE-F8C2EBD5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1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EDA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AA0B7-20E7-46A6-9D41-327903AE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Dataset size and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2C0B3-B721-4599-B63A-1ACEB94F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352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150,000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CBEC2-9DC6-461B-9677-DD2A4443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raw training rows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86701-E431-468C-8B7A-2953E480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676400"/>
            <a:ext cx="352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149,575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2B2B9-FC77-404E-8B11-E96CFB13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384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cleaned training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1160A-52BD-494C-8C08-DAE6FA27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76400"/>
            <a:ext cx="352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50,000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34023-0B96-4A47-B767-BE2313FB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384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test rows retained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20EB4-F39E-48C9-A840-B7F90694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909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Training approvals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26A22-090C-4FA1-95E0-A45E28D0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9095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January 2021 to March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6C7D8-8ED2-4CB3-A057-EBAFFB14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Test approvals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71E61-8221-4704-A046-C6CA5D58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March 2025 to July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A3BD3-A9B5-48E9-8037-0ABCD167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244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Data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1D70A-064D-4E52-86AB-C821923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244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425 exact training duplicates removed. All 5,508 exact test duplicates stay to preserve submission rows.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09C56-DFF4-4FB3-851E-24169106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626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Core fields have no missing values. Address normalization raises HDB block join coverage from about 79% to 100%.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36923-CEEB-4CF8-91B7-F113FE86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708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081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8190"/>
                </a:solidFill>
                <a:latin typeface="Arial"/>
                <a:ea typeface="Arial"/>
                <a:cs typeface="Arial"/>
              </a:rPr>
              <a:t>Source: supplied train/test files and the preprocessing audit. March 2025 appears in both sets.</a:t>
            </a:r>
          </a:p>
        </p:txBody>
      </p:sp>
    </p:spTree>
    <p:extLst>
      <p:ext uri="{BB962C8B-B14F-4D97-AF65-F5344CB8AC3E}">
        <p14:creationId xmlns:p14="http://schemas.microsoft.com/office/powerpoint/2010/main" val="4709020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82692-B4A4-4B76-9E03-B40DDE66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1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EDA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02CBD-B6E3-408F-BBE4-60CF5FDD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Monthly rent distribution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AB8B6-0E0F-4661-BADA-56802FBC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Cleaned training target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CF929-0324-4198-81E5-8A2C8879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14575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Minimum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817B1-6D3B-440E-9DE2-5562315B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185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9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037DC-2E1B-4FFF-95C9-06A2EFB2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14575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25th percentile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C532B-0902-40EF-BF8B-A77A12CD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057525"/>
            <a:ext cx="185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9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2,100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B8103-CC16-44F5-81A0-12905377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14575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C7546-3B77-42F8-BDC3-D283FE39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57525"/>
            <a:ext cx="185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92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2,650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11C0A-269A-4834-8F4A-FFAA271E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14575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75th percentile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0E34E-B5A9-4795-86AD-D88009C3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57525"/>
            <a:ext cx="185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9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3,200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BD33B-0238-4C93-A1A5-9CC9416D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Maximum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9E48F-608B-4848-BEA8-25E1C74E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57525"/>
            <a:ext cx="185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9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7,600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16183-7298-40CC-8AF6-7C5C67DB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708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70819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08190"/>
                </a:solidFill>
                <a:latin typeface="Arial"/>
                <a:ea typeface="Arial"/>
                <a:cs typeface="Arial"/>
              </a:rPr>
              <a:t>SGD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AA0AF-2DE6-4854-803D-148D2B07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The middle half of recorded rents lies between SGD 2,100 and SGD 3,200.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B12DA-FA56-40A8-9F12-A9A7FB1B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The target has no missing values across 149,575 retained training rows.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CD821-E8D4-4365-9592-9FDA2349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708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081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8190"/>
                </a:solidFill>
                <a:latin typeface="Arial"/>
                <a:ea typeface="Arial"/>
                <a:cs typeface="Arial"/>
              </a:rPr>
              <a:t>Source: cleaned training data. Figures describe observed rents; no target values were clipped.</a:t>
            </a:r>
          </a:p>
        </p:txBody>
      </p:sp>
    </p:spTree>
    <p:extLst>
      <p:ext uri="{BB962C8B-B14F-4D97-AF65-F5344CB8AC3E}">
        <p14:creationId xmlns:p14="http://schemas.microsoft.com/office/powerpoint/2010/main" val="933021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06763-77B8-44F8-AE85-5231FE1B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1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EDA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FC760-D577-4515-8380-09CE4D6C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Rental prices over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74CD8-C1FB-4B73-BD7A-A96FF97F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478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66777"/>
                </a:solidFill>
                <a:latin typeface="Arial"/>
                <a:ea typeface="Arial"/>
                <a:cs typeface="Arial"/>
              </a:rPr>
              <a:t>Approval year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38168-50AC-4EBE-86E9-C45F274C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311A6-DD55-413C-BBB8-03694ACC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383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2022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4836A-BA0E-4D9B-B34F-BA95B018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2383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738AF-F280-4454-8FDE-2E98222C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383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1C23B-D5BC-4EFC-AB6E-0BC17993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2383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2025*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6747C-391E-4E82-8107-8E053B3F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051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37,619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CEC95-C337-4922-B37A-8EF6A515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2,100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A66D7-C8F3-4288-B478-5E3EBEBB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051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32,563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926374-1D4E-437F-8C42-C0966749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052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2,450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894A2-B05E-4E05-B2E2-80959DDE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051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35,629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3AD57-EBA7-4E54-A5FB-8195CB96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9052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3,000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F03EF-21A2-4921-B6C8-089F0134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051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34,925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4A039A-B1CF-4533-8320-51F475A7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052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3,100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4477D-4962-49C3-AFBA-61175267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1051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8,839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E6E81-BC10-4985-B68A-1DD6B780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9052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7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3,200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25AC69-020F-4AAE-A641-9C5C248A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708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1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08190"/>
                </a:solidFill>
                <a:latin typeface="Arial"/>
                <a:ea typeface="Arial"/>
                <a:cs typeface="Arial"/>
              </a:rPr>
              <a:t>Transactions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121F5-EAED-4DC1-A1AB-163C387E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708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081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08190"/>
                </a:solidFill>
                <a:latin typeface="Arial"/>
                <a:ea typeface="Arial"/>
                <a:cs typeface="Arial"/>
              </a:rPr>
              <a:t>Median rent (SGD)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EFEC8-74B3-4635-94BD-7C7558E4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The yearly median rose from SGD 2,100 in 2021 to SGD 3,100 in 2024.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9C2EC2-79A6-4A71-859C-6651C923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* 2025 covers January to March only. These are unadjusted yearly medians; the mix of flats can change over time.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AD80BA-0DA5-40FE-994A-3186D75F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708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081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8190"/>
                </a:solidFill>
                <a:latin typeface="Arial"/>
                <a:ea typeface="Arial"/>
                <a:cs typeface="Arial"/>
              </a:rPr>
              <a:t>Source: cleaned training data grouped by approval year.</a:t>
            </a:r>
          </a:p>
        </p:txBody>
      </p:sp>
    </p:spTree>
    <p:extLst>
      <p:ext uri="{BB962C8B-B14F-4D97-AF65-F5344CB8AC3E}">
        <p14:creationId xmlns:p14="http://schemas.microsoft.com/office/powerpoint/2010/main" val="771156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BE2E7F-1958-4AE5-9500-4E80EF57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081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EDA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1C465-D3DC-4CE6-A658-948072C2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Rent by flat type and town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24C84-E554-4C02-9DB3-1B8D574B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287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Flat 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4C55B-8935-4EE2-9AF6-B035FB2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28775"/>
            <a:ext cx="109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66777"/>
                </a:solidFill>
                <a:latin typeface="Arial"/>
                <a:ea typeface="Arial"/>
                <a:cs typeface="Arial"/>
              </a:rPr>
              <a:t>Rows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5588E-2299-420D-B199-CDDFE395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28775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66777"/>
                </a:solidFill>
                <a:latin typeface="Arial"/>
                <a:ea typeface="Arial"/>
                <a:cs typeface="Arial"/>
              </a:rPr>
              <a:t>Median SGD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164A6-71E0-4957-85BC-28C5FA26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1-room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30880-2BEB-4F60-B3BF-09FE5066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43125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E9792-72C9-4DC2-80F4-9FBCFC75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43125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1,450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15318-D2B9-49C4-9403-78C62136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2-room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B02E5-8E4B-4544-92D1-F62DFAC4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3,085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EF61F-DBCA-46ED-8856-5C086DB3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0510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2,050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FFD0C-BA06-4158-BDE5-BB6BB145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3-room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4CC10-2F6A-4101-8635-1645A13C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67075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48,772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3BCA0-690E-4168-86C7-79816DC7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67075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2,300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BD0C8-86D6-4D46-AD01-91975BFE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4-room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99DA5-1929-46F9-A144-D76141A6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2905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53,980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CC6403-55BE-429D-BFC7-099D7EB8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290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2,800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3393D-8674-449E-88B6-30EAB4D8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5-room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A884D5-2E2A-4341-954A-BD0F4BED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91025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35,467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77F419-AB2B-4C03-A419-C5E63E84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91025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3,000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0895D5-95C4-4D36-8652-59233FF5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Executive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0D11F2-3814-4428-80E2-1A337E64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53000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8,229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73B3E-9CE3-446C-9FB5-DAC708E1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3,000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1D5743-9118-433D-9A96-7AABB9F9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2877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Selected towns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E8F315-73B4-4D22-BDC5-7E89905B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28775"/>
            <a:ext cx="100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66777"/>
                </a:solidFill>
                <a:latin typeface="Arial"/>
                <a:ea typeface="Arial"/>
                <a:cs typeface="Arial"/>
              </a:rPr>
              <a:t>Rows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FF8CB2-6640-4A5C-B42B-2D7B9FC7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6287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66777"/>
                </a:solidFill>
                <a:latin typeface="Arial"/>
                <a:ea typeface="Arial"/>
                <a:cs typeface="Arial"/>
              </a:rPr>
              <a:t>Median SGD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81D7B0-C483-4C0E-A9C8-AF469AAF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4312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Central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F3AD9A-4D51-4E67-8196-F3A60C6B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43125"/>
            <a:ext cx="1019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2,262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837902-508E-4A67-9B7B-ADC384A4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431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3,000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013B22-70CA-4A1F-91E9-7CEDBE1C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0510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Bukit Merah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51BE7E-D021-4E0A-952E-C4A6B489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05100"/>
            <a:ext cx="1019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8,228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3CDDC8-BB35-4426-A996-FB835517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2,900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C53E1-ABB2-40EE-8919-165CF38B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670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Queenstown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8B83CB-5FE4-4484-A09F-7B1ABB8C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267075"/>
            <a:ext cx="1019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6,072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E214A3-15A4-4FE7-9897-E7902409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670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2,900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A28D56-8454-44D4-BE20-2F83AB82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2905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Bedok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6A5EBC-3125-4FEC-9B68-8F7EEA51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29050"/>
            <a:ext cx="1019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8,881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A7B318-F217-4D68-887F-57F969E4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290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2,500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33334C-9F46-4A8E-8B0F-6214C73D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9102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Ang Mo Kio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D75FCF-BB36-4F6F-B103-38DFA58F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391025"/>
            <a:ext cx="1019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8,247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6F3001-36E2-470C-BD05-5EB9705A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910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2,500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DC21DB-0609-4808-9F38-E28BA23D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5300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Yishun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35EAFF-8A16-427D-B556-6CEEDE53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953000"/>
            <a:ext cx="1019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7,896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C8A554-CB79-4B62-A1C9-1C9BC62A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530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76AB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76AB2"/>
                </a:solidFill>
                <a:latin typeface="Arial"/>
                <a:ea typeface="Arial"/>
                <a:cs typeface="Arial"/>
              </a:rPr>
              <a:t>2,500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1A16AD-90B5-4F60-A07C-75064ACC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66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77"/>
                </a:solidFill>
                <a:latin typeface="Arial"/>
                <a:ea typeface="Arial"/>
                <a:cs typeface="Arial"/>
              </a:rPr>
              <a:t>Town examples are selected from 25 towns with at least 1,000 training rows. Group medians do not adjust for flat mix or approval year.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7B840F-4BAB-44E2-919B-679E06AB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708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081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8190"/>
                </a:solidFill>
                <a:latin typeface="Arial"/>
                <a:ea typeface="Arial"/>
                <a:cs typeface="Arial"/>
              </a:rPr>
              <a:t>Source: cleaned training data. The 1-room group has only 42 records.</a:t>
            </a:r>
          </a:p>
        </p:txBody>
      </p:sp>
    </p:spTree>
    <p:extLst>
      <p:ext uri="{BB962C8B-B14F-4D97-AF65-F5344CB8AC3E}">
        <p14:creationId xmlns:p14="http://schemas.microsoft.com/office/powerpoint/2010/main" val="10774980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2026-10-01T17:38:06.5880000Z</dcterms:created>
  <dcterms:modified xsi:type="dcterms:W3CDTF">2026-10-01T17:38:06.5880000Z</dcterms:modified>
</coreProperties>
</file>